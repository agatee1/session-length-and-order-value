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You asked how long it takes someone to buy, from arriving to their first purchase that same day, and how it moves daily. Short answer: 19 minutes. Longer and more useful answer: it has not moved in three months, and that turns out to be the interesting part. Do not explain methodology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Three definitions that shape everything after. (1) Unit is the user-day, not the person: 4,794 user-days, not 4,794 customers. (2) Same-day only, by construction, because that is what was asked; someone who researches Monday and buys Thursday is absent entirely, not counted as a long duration. (3) Median not mean, and the gap is large: 19 against 75. If pressed: 5% of buyers hold half the elapsed time, chart comes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Two-thirds finish inside half an hour, 3,110 of 4,794. 41% inside fifteen minutes. The interesting bit: the biggest band is 5 to 15 minutes, not the fastest. Only 7.8% buy in under five. So the typical pattern is a short but real browse, not someone arriving already decided. TRANSITION: that is the level, now the daily progression you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This is the answer to the actual question and it is a negative one. 92 days, smoothed line in a narrow band, no trend, no break. Warn them off the dotted line: some January days rest on fewer than two dozen buyers, so a couple of people move the median several minutes. Only the smooth line carries information. TRANSITION: a flat line alone is not interesting; what makes it interesting is what was happening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SLOW DOWN] Left: conversion peaked 3.17% on 30 Nov, Black Friday week, down to a fraction by mid-January. Right: daily volume peaked near 150, fell below 20. Demand, traffic quality and conversion all moved a great deal. The median did not move with any of them. Practical conclusion: this is not an early-warning metric, it will not tell you conversion is falling before conversion does. PAUSE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If the number does not move and does not track anything, what is it measuring? Order value by speed band answers that. Move straight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Split orders by how long the purchase took and average order value climbs the whole way: just under $50 fastest, $95.60 slowest. 1.9x, about $46 a head. Slower buyers are worth more. The question is why, and the two possible reasons point in opposite directions. TRANSITION: an order's value is how many things times how much each costs, so split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SLOW DOWN] Items per order nearly triples, 2.3 to 6.4. Price per item flat at about $15 across four of five bands. Multiply the columns and you get the previous slide's order values within a few cents, so the entire $46 gap is basket size. Nobody trades up; they put more of the same $15 products in the basket. Flag the oddity: fastest band has the smallest basket but the highest unit price at $22.04. Not a rushed version of everyone else, a different behaviour. ~8% of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Be careful here, two readings and the data cannot separate them. A: duration signals intent, the minutes are engagement, compressing them removes the browsing that fills the cart. B: duration is a by-product of basket size, six items take longer to add than two. Both predict exactly this chart. What settles it: hold basket size constant, take only four-item orders, and see if value still rises with time. THE USEFUL PART: both readings agree this is not a number to drive down. If asked which I think: instinct says B, but I would rather run the test than give you my instinct.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SLOW DOWN] Left: 189,900 of 242,200 leave without viewing a single product, 78%. Bigger than every other funnel step combined and no checkout work touches it. Right: add-to-cart to checkout takes 47% of journey time and loses 49% of the people who reach it, the only stage where both are true. Why that matters: everywhere else cutting time risks cutting basket size, but here the basket is already assembled, so the time is hesitation or friction, not adding items. The one place where faster plausibly gains conversions instead of costing revenue. Cannot say what the obstacle is; those events are not tracked.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One limitation that constrains the headline, then the rest for completeness. Measurement starts from the first event of the calendar DAY, not the visit. Someone browsing at 9am and buying at 5pm records an eight-hour purchase. That is the tall bar: 5% of buyers holding 49% of elapsed time, and the whole reason the mean is 75 against a median of 19. Practical: do not read the slow bands as patient high-consideration shoppers. Highlight from the rest: 883 purchase events carry no transaction id; tested and unbiased across bands, but revenue totals are floors not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Five things. (1) No target on time to first purchase, driving it down means shrinking baskets. (2) Slow buyers are not a problem, they are the valuable ones, $95.60 against $49.77. (3) Prioritise cart to checkout, 47% of time and 49% of drop-off; instrument first, then fix. (4) Pre-product-page loss is a separate and bigger piece of work, 189,900 people. (5) If you want a duration metric you can actually optimise, use time to first add-to-cart. Then: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34B"/>
        </a:solidFill>
      </p:bgPr>
    </p:bg>
    <p:spTree>
      <p:nvGrpSpPr>
        <p:cNvPr id="1" name=""/>
        <p:cNvGrpSpPr/>
        <p:nvPr/>
      </p:nvGrpSpPr>
      <p:grpSpPr>
        <a:xfrm>
          <a:off x="0" y="0"/>
          <a:ext cx="0" cy="0"/>
          <a:chOff x="0" y="0"/>
          <a:chExt cx="0" cy="0"/>
        </a:xfrm>
      </p:grpSpPr>
      <p:sp>
        <p:nvSpPr>
          <p:cNvPr id="2" name="Text 0"/>
          <p:cNvSpPr txBox="1"/>
          <p:nvPr/>
        </p:nvSpPr>
        <p:spPr>
          <a:xfrm>
            <a:off x="566928" y="1371600"/>
            <a:ext cx="8229600" cy="274320"/>
          </a:xfrm>
          <a:prstGeom prst="rect">
            <a:avLst/>
          </a:prstGeom>
          <a:noFill/>
          <a:ln/>
        </p:spPr>
        <p:txBody>
          <a:bodyPr wrap="square" lIns="0" tIns="0" rIns="0" bIns="0" rtlCol="0" anchor="ctr"/>
          <a:lstStyle/>
          <a:p>
            <a:pPr indent="0" marL="0">
              <a:buNone/>
            </a:pPr>
            <a:r>
              <a:rPr lang="en-US" sz="1200" b="1" spc="240" kern="0" dirty="0">
                <a:solidFill>
                  <a:srgbClr val="CADCFC"/>
                </a:solidFill>
                <a:latin typeface="Calibri" pitchFamily="34" charset="0"/>
                <a:ea typeface="Calibri" pitchFamily="34" charset="-122"/>
                <a:cs typeface="Calibri" pitchFamily="34" charset="-120"/>
              </a:rPr>
              <a:t>PRODUCT ANALYSIS  ·  PM FOLLOW-UP</a:t>
            </a:r>
            <a:endParaRPr lang="en-US" sz="1200" dirty="0"/>
          </a:p>
        </p:txBody>
      </p:sp>
      <p:sp>
        <p:nvSpPr>
          <p:cNvPr id="3" name="Text 1"/>
          <p:cNvSpPr txBox="1"/>
          <p:nvPr/>
        </p:nvSpPr>
        <p:spPr>
          <a:xfrm>
            <a:off x="566928" y="1783080"/>
            <a:ext cx="859536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Time to First Purchase</a:t>
            </a:r>
            <a:endParaRPr lang="en-US" sz="4600" dirty="0"/>
          </a:p>
        </p:txBody>
      </p:sp>
      <p:sp>
        <p:nvSpPr>
          <p:cNvPr id="4" name="Text 2"/>
          <p:cNvSpPr txBox="1"/>
          <p:nvPr/>
        </p:nvSpPr>
        <p:spPr>
          <a:xfrm>
            <a:off x="566928" y="2743200"/>
            <a:ext cx="859536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Same-day buyers  ·  1 Nov 2020 – 31 Jan 2021  ·  4,794 buyer-days</a:t>
            </a:r>
            <a:endParaRPr lang="en-US" sz="1600" dirty="0"/>
          </a:p>
        </p:txBody>
      </p:sp>
      <p:sp>
        <p:nvSpPr>
          <p:cNvPr id="5" name="Text 3"/>
          <p:cNvSpPr txBox="1"/>
          <p:nvPr/>
        </p:nvSpPr>
        <p:spPr>
          <a:xfrm>
            <a:off x="8229600" y="3246120"/>
            <a:ext cx="3291840" cy="1371600"/>
          </a:xfrm>
          <a:prstGeom prst="rect">
            <a:avLst/>
          </a:prstGeom>
          <a:noFill/>
          <a:ln/>
        </p:spPr>
        <p:txBody>
          <a:bodyPr wrap="square" lIns="0" tIns="0" rIns="0" bIns="0" rtlCol="0" anchor="ctr"/>
          <a:lstStyle/>
          <a:p>
            <a:pPr algn="r" indent="0" marL="0">
              <a:buNone/>
            </a:pPr>
            <a:r>
              <a:rPr lang="en-US" sz="9600" b="1" dirty="0">
                <a:solidFill>
                  <a:srgbClr val="FFFFFF"/>
                </a:solidFill>
                <a:latin typeface="Cambria" pitchFamily="34" charset="0"/>
                <a:ea typeface="Cambria" pitchFamily="34" charset="-122"/>
                <a:cs typeface="Cambria" pitchFamily="34" charset="-120"/>
              </a:rPr>
              <a:t>19.1</a:t>
            </a:r>
            <a:endParaRPr lang="en-US" sz="9600" dirty="0"/>
          </a:p>
        </p:txBody>
      </p:sp>
      <p:sp>
        <p:nvSpPr>
          <p:cNvPr id="6" name="Text 4"/>
          <p:cNvSpPr txBox="1"/>
          <p:nvPr/>
        </p:nvSpPr>
        <p:spPr>
          <a:xfrm>
            <a:off x="6766560" y="4572000"/>
            <a:ext cx="4754880" cy="320040"/>
          </a:xfrm>
          <a:prstGeom prst="rect">
            <a:avLst/>
          </a:prstGeom>
          <a:noFill/>
          <a:ln/>
        </p:spPr>
        <p:txBody>
          <a:bodyPr wrap="square" lIns="0" tIns="0" rIns="0" bIns="0" rtlCol="0" anchor="ctr"/>
          <a:lstStyle/>
          <a:p>
            <a:pPr algn="r" indent="0" marL="0">
              <a:buNone/>
            </a:pPr>
            <a:r>
              <a:rPr lang="en-US" sz="1300" dirty="0">
                <a:solidFill>
                  <a:srgbClr val="CADCFC"/>
                </a:solidFill>
                <a:latin typeface="Calibri" pitchFamily="34" charset="0"/>
                <a:ea typeface="Calibri" pitchFamily="34" charset="-122"/>
                <a:cs typeface="Calibri" pitchFamily="34" charset="-120"/>
              </a:rPr>
              <a:t>median minutes to first purchase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20" kern="0" dirty="0">
                <a:solidFill>
                  <a:srgbClr val="1A73E8"/>
                </a:solidFill>
                <a:latin typeface="Calibri" pitchFamily="34" charset="0"/>
                <a:ea typeface="Calibri" pitchFamily="34" charset="-122"/>
                <a:cs typeface="Calibri" pitchFamily="34" charset="-120"/>
              </a:rPr>
              <a:t>WHAT WAS MEASURED</a:t>
            </a:r>
            <a:endParaRPr lang="en-US" sz="1100" dirty="0"/>
          </a:p>
        </p:txBody>
      </p:sp>
      <p:sp>
        <p:nvSpPr>
          <p:cNvPr id="3" name="Text 1"/>
          <p:cNvSpPr txBox="1"/>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8234B"/>
                </a:solidFill>
                <a:latin typeface="Cambria" pitchFamily="34" charset="0"/>
                <a:ea typeface="Cambria" pitchFamily="34" charset="-122"/>
                <a:cs typeface="Cambria" pitchFamily="34" charset="-120"/>
              </a:rPr>
              <a:t>First event of the day, to first purchase that same day</a:t>
            </a:r>
            <a:endParaRPr lang="en-US" sz="3000" dirty="0"/>
          </a:p>
        </p:txBody>
      </p:sp>
      <p:sp>
        <p:nvSpPr>
          <p:cNvPr id="4" name="Text 2"/>
          <p:cNvSpPr txBox="1"/>
          <p:nvPr/>
        </p:nvSpPr>
        <p:spPr>
          <a:xfrm>
            <a:off x="566928" y="1572768"/>
            <a:ext cx="10424160" cy="2103120"/>
          </a:xfrm>
          <a:prstGeom prst="rect">
            <a:avLst/>
          </a:prstGeom>
          <a:noFill/>
          <a:ln/>
        </p:spPr>
        <p:txBody>
          <a:bodyPr wrap="square" lIns="0" tIns="0" rIns="0" bIns="0" rtlCol="0" anchor="ctr"/>
          <a:lstStyle/>
          <a:p>
            <a:pPr indent="0" marL="0">
              <a:lnSpc>
                <a:spcPts val="2200"/>
              </a:lnSpc>
              <a:buNone/>
            </a:pPr>
            <a:r>
              <a:rPr lang="en-US" sz="1500" b="1" dirty="0">
                <a:solidFill>
                  <a:srgbClr val="18234B"/>
                </a:solidFill>
                <a:latin typeface="Calibri" pitchFamily="34" charset="0"/>
                <a:ea typeface="Calibri" pitchFamily="34" charset="-122"/>
                <a:cs typeface="Calibri" pitchFamily="34" charset="-120"/>
              </a:rPr>
              <a:t>Unit of analysis is the user-day: </a:t>
            </a:r>
            <a:pPr indent="0" marL="0">
              <a:lnSpc>
                <a:spcPts val="2200"/>
              </a:lnSpc>
              <a:spcAft>
                <a:spcPts val="1200"/>
              </a:spcAft>
              <a:buNone/>
            </a:pPr>
            <a:r>
              <a:rPr lang="en-US" sz="1500" dirty="0">
                <a:solidFill>
                  <a:srgbClr val="1B2430"/>
                </a:solidFill>
                <a:latin typeface="Calibri" pitchFamily="34" charset="0"/>
                <a:ea typeface="Calibri" pitchFamily="34" charset="-122"/>
                <a:cs typeface="Calibri" pitchFamily="34" charset="-120"/>
              </a:rPr>
              <a:t>one user on one calendar day, not the user, session, or order. 4,794 is 4,794 user-days, not 4,794 people.</a:t>
            </a:r>
            <a:endParaRPr lang="en-US" sz="1500" dirty="0"/>
          </a:p>
          <a:p>
            <a:pPr indent="0" marL="0">
              <a:lnSpc>
                <a:spcPts val="2200"/>
              </a:lnSpc>
              <a:buNone/>
            </a:pPr>
            <a:r>
              <a:rPr lang="en-US" sz="1500" b="1" dirty="0">
                <a:solidFill>
                  <a:srgbClr val="18234B"/>
                </a:solidFill>
                <a:latin typeface="Calibri" pitchFamily="34" charset="0"/>
                <a:ea typeface="Calibri" pitchFamily="34" charset="-122"/>
                <a:cs typeface="Calibri" pitchFamily="34" charset="-120"/>
              </a:rPr>
              <a:t>Same-day only, by construction: </a:t>
            </a:r>
            <a:pPr indent="0" marL="0">
              <a:lnSpc>
                <a:spcPts val="2200"/>
              </a:lnSpc>
              <a:spcAft>
                <a:spcPts val="1200"/>
              </a:spcAft>
              <a:buNone/>
            </a:pPr>
            <a:r>
              <a:rPr lang="en-US" sz="1500" dirty="0">
                <a:solidFill>
                  <a:srgbClr val="1B2430"/>
                </a:solidFill>
                <a:latin typeface="Calibri" pitchFamily="34" charset="0"/>
                <a:ea typeface="Calibri" pitchFamily="34" charset="-122"/>
                <a:cs typeface="Calibri" pitchFamily="34" charset="-120"/>
              </a:rPr>
              <a:t>someone who browses Monday and buys Thursday is excluded entirely, not recorded as a long duration.</a:t>
            </a:r>
            <a:endParaRPr lang="en-US" sz="1500" dirty="0"/>
          </a:p>
          <a:p>
            <a:pPr indent="0" marL="0">
              <a:lnSpc>
                <a:spcPts val="2200"/>
              </a:lnSpc>
              <a:buNone/>
            </a:pPr>
            <a:r>
              <a:rPr lang="en-US" sz="1500" b="1" dirty="0">
                <a:solidFill>
                  <a:srgbClr val="18234B"/>
                </a:solidFill>
                <a:latin typeface="Calibri" pitchFamily="34" charset="0"/>
                <a:ea typeface="Calibri" pitchFamily="34" charset="-122"/>
                <a:cs typeface="Calibri" pitchFamily="34" charset="-120"/>
              </a:rPr>
              <a:t>Median, not mean: </a:t>
            </a:r>
            <a:pPr indent="0" marL="0">
              <a:lnSpc>
                <a:spcPts val="2200"/>
              </a:lnSpc>
              <a:buNone/>
            </a:pPr>
            <a:r>
              <a:rPr lang="en-US" sz="1500" dirty="0">
                <a:solidFill>
                  <a:srgbClr val="1B2430"/>
                </a:solidFill>
                <a:latin typeface="Calibri" pitchFamily="34" charset="0"/>
                <a:ea typeface="Calibri" pitchFamily="34" charset="-122"/>
                <a:cs typeface="Calibri" pitchFamily="34" charset="-120"/>
              </a:rPr>
              <a:t>the distribution is severely right-skewed. The slowest 5% of buyers hold 49% of all elapsed time.</a:t>
            </a:r>
            <a:endParaRPr lang="en-US" sz="1500" dirty="0"/>
          </a:p>
        </p:txBody>
      </p:sp>
      <p:pic>
        <p:nvPicPr>
          <p:cNvPr id="5" name="Image 0" descr="ch_kpi_p1.png">    </p:cNvPr>
          <p:cNvPicPr>
            <a:picLocks noChangeAspect="1"/>
          </p:cNvPicPr>
          <p:nvPr/>
        </p:nvPicPr>
        <p:blipFill>
          <a:blip r:embed="rId1"/>
          <a:stretch>
            <a:fillRect/>
          </a:stretch>
        </p:blipFill>
        <p:spPr>
          <a:xfrm>
            <a:off x="566928" y="4246286"/>
            <a:ext cx="11027664" cy="1062907"/>
          </a:xfrm>
          <a:prstGeom prst="rect">
            <a:avLst/>
          </a:prstGeom>
        </p:spPr>
      </p:pic>
      <p:sp>
        <p:nvSpPr>
          <p:cNvPr id="6" name="Text 3"/>
          <p:cNvSpPr txBox="1"/>
          <p:nvPr/>
        </p:nvSpPr>
        <p:spPr>
          <a:xfrm>
            <a:off x="566928" y="5623560"/>
            <a:ext cx="7315200" cy="274320"/>
          </a:xfrm>
          <a:prstGeom prst="rect">
            <a:avLst/>
          </a:prstGeom>
          <a:noFill/>
          <a:ln/>
        </p:spPr>
        <p:txBody>
          <a:bodyPr wrap="square" lIns="0" tIns="0" rIns="0" bIns="0" rtlCol="0" anchor="ctr"/>
          <a:lstStyle/>
          <a:p>
            <a:pPr indent="0" marL="0">
              <a:buNone/>
            </a:pPr>
            <a:r>
              <a:rPr lang="en-US" sz="1100" i="1" dirty="0">
                <a:solidFill>
                  <a:srgbClr val="6B7789"/>
                </a:solidFill>
                <a:latin typeface="Calibri" pitchFamily="34" charset="0"/>
                <a:ea typeface="Calibri" pitchFamily="34" charset="-122"/>
                <a:cs typeface="Calibri" pitchFamily="34" charset="-120"/>
              </a:rPr>
              <a:t>Page 1 scorecards, Time to first purchase dashboard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20" kern="0" dirty="0">
                <a:solidFill>
                  <a:srgbClr val="1A73E8"/>
                </a:solidFill>
                <a:latin typeface="Calibri" pitchFamily="34" charset="0"/>
                <a:ea typeface="Calibri" pitchFamily="34" charset="-122"/>
                <a:cs typeface="Calibri" pitchFamily="34" charset="-120"/>
              </a:rPr>
              <a:t>THE ANSWER</a:t>
            </a:r>
            <a:endParaRPr lang="en-US" sz="1100" dirty="0"/>
          </a:p>
        </p:txBody>
      </p:sp>
      <p:sp>
        <p:nvSpPr>
          <p:cNvPr id="3" name="Text 1"/>
          <p:cNvSpPr txBox="1"/>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8234B"/>
                </a:solidFill>
                <a:latin typeface="Cambria" pitchFamily="34" charset="0"/>
                <a:ea typeface="Cambria" pitchFamily="34" charset="-122"/>
                <a:cs typeface="Cambria" pitchFamily="34" charset="-120"/>
              </a:rPr>
              <a:t>Two-thirds of buyers finish inside 30 minutes</a:t>
            </a:r>
            <a:endParaRPr lang="en-US" sz="3000" dirty="0"/>
          </a:p>
        </p:txBody>
      </p:sp>
      <p:sp>
        <p:nvSpPr>
          <p:cNvPr id="4" name="Text 2"/>
          <p:cNvSpPr txBox="1"/>
          <p:nvPr/>
        </p:nvSpPr>
        <p:spPr>
          <a:xfrm>
            <a:off x="566928" y="1691640"/>
            <a:ext cx="3108960" cy="914400"/>
          </a:xfrm>
          <a:prstGeom prst="rect">
            <a:avLst/>
          </a:prstGeom>
          <a:noFill/>
          <a:ln/>
        </p:spPr>
        <p:txBody>
          <a:bodyPr wrap="square" lIns="0" tIns="0" rIns="0" bIns="0" rtlCol="0" anchor="ctr"/>
          <a:lstStyle/>
          <a:p>
            <a:pPr indent="0" marL="0">
              <a:buNone/>
            </a:pPr>
            <a:r>
              <a:rPr lang="en-US" sz="6200" b="1" dirty="0">
                <a:solidFill>
                  <a:srgbClr val="18234B"/>
                </a:solidFill>
                <a:latin typeface="Cambria" pitchFamily="34" charset="0"/>
                <a:ea typeface="Cambria" pitchFamily="34" charset="-122"/>
                <a:cs typeface="Cambria" pitchFamily="34" charset="-120"/>
              </a:rPr>
              <a:t>3,110</a:t>
            </a:r>
            <a:endParaRPr lang="en-US" sz="6200" dirty="0"/>
          </a:p>
        </p:txBody>
      </p:sp>
      <p:sp>
        <p:nvSpPr>
          <p:cNvPr id="5" name="Text 3"/>
          <p:cNvSpPr txBox="1"/>
          <p:nvPr/>
        </p:nvSpPr>
        <p:spPr>
          <a:xfrm>
            <a:off x="566928" y="2606040"/>
            <a:ext cx="3200400" cy="914400"/>
          </a:xfrm>
          <a:prstGeom prst="rect">
            <a:avLst/>
          </a:prstGeom>
          <a:noFill/>
          <a:ln/>
        </p:spPr>
        <p:txBody>
          <a:bodyPr wrap="square" lIns="0" tIns="0" rIns="0" bIns="0" rtlCol="0" anchor="ctr"/>
          <a:lstStyle/>
          <a:p>
            <a:pPr indent="0" marL="0">
              <a:buNone/>
            </a:pPr>
            <a:r>
              <a:rPr lang="en-US" sz="1400" dirty="0">
                <a:solidFill>
                  <a:srgbClr val="1B2430"/>
                </a:solidFill>
                <a:latin typeface="Calibri" pitchFamily="34" charset="0"/>
                <a:ea typeface="Calibri" pitchFamily="34" charset="-122"/>
                <a:cs typeface="Calibri" pitchFamily="34" charset="-120"/>
              </a:rPr>
              <a:t>of 4,794 buyers purchase within half an hour of arriving. 41% do it inside fifteen minutes.</a:t>
            </a:r>
            <a:endParaRPr lang="en-US" sz="1400" dirty="0"/>
          </a:p>
        </p:txBody>
      </p:sp>
      <p:sp>
        <p:nvSpPr>
          <p:cNvPr id="6" name="Text 4"/>
          <p:cNvSpPr txBox="1"/>
          <p:nvPr/>
        </p:nvSpPr>
        <p:spPr>
          <a:xfrm>
            <a:off x="566928" y="3749040"/>
            <a:ext cx="3200400" cy="14630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The modal band is 5 to 15 minutes, not the fastest one. </a:t>
            </a:r>
            <a:pPr indent="0" marL="0">
              <a:buNone/>
            </a:pPr>
            <a:r>
              <a:rPr lang="en-US" sz="1350" dirty="0">
                <a:solidFill>
                  <a:srgbClr val="1B2430"/>
                </a:solidFill>
                <a:latin typeface="Calibri" pitchFamily="34" charset="0"/>
                <a:ea typeface="Calibri" pitchFamily="34" charset="-122"/>
                <a:cs typeface="Calibri" pitchFamily="34" charset="-120"/>
              </a:rPr>
              <a:t>Only 7.8% buy in under five minutes, so the common pattern is a short but non-trivial browse rather than arriving with a product already decided.</a:t>
            </a:r>
            <a:endParaRPr lang="en-US" sz="1350" dirty="0"/>
          </a:p>
        </p:txBody>
      </p:sp>
      <p:pic>
        <p:nvPicPr>
          <p:cNvPr id="7" name="Image 0" descr="ch_distribution.png">    </p:cNvPr>
          <p:cNvPicPr>
            <a:picLocks noChangeAspect="1"/>
          </p:cNvPicPr>
          <p:nvPr/>
        </p:nvPicPr>
        <p:blipFill>
          <a:blip r:embed="rId1"/>
          <a:stretch>
            <a:fillRect/>
          </a:stretch>
        </p:blipFill>
        <p:spPr>
          <a:xfrm>
            <a:off x="4041648" y="1843316"/>
            <a:ext cx="7589520" cy="34365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20" kern="0" dirty="0">
                <a:solidFill>
                  <a:srgbClr val="1A73E8"/>
                </a:solidFill>
                <a:latin typeface="Calibri" pitchFamily="34" charset="0"/>
                <a:ea typeface="Calibri" pitchFamily="34" charset="-122"/>
                <a:cs typeface="Calibri" pitchFamily="34" charset="-120"/>
              </a:rPr>
              <a:t>DAILY PROGRESSION</a:t>
            </a:r>
            <a:endParaRPr lang="en-US" sz="1100" dirty="0"/>
          </a:p>
        </p:txBody>
      </p:sp>
      <p:sp>
        <p:nvSpPr>
          <p:cNvPr id="3" name="Text 1"/>
          <p:cNvSpPr txBox="1"/>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8234B"/>
                </a:solidFill>
                <a:latin typeface="Cambria" pitchFamily="34" charset="0"/>
                <a:ea typeface="Cambria" pitchFamily="34" charset="-122"/>
                <a:cs typeface="Cambria" pitchFamily="34" charset="-120"/>
              </a:rPr>
              <a:t>And it has not moved all quarter</a:t>
            </a:r>
            <a:endParaRPr lang="en-US" sz="3000" dirty="0"/>
          </a:p>
        </p:txBody>
      </p:sp>
      <p:pic>
        <p:nvPicPr>
          <p:cNvPr id="4" name="Image 0" descr="ch_trend.png">    </p:cNvPr>
          <p:cNvPicPr>
            <a:picLocks noChangeAspect="1"/>
          </p:cNvPicPr>
          <p:nvPr/>
        </p:nvPicPr>
        <p:blipFill>
          <a:blip r:embed="rId1"/>
          <a:stretch>
            <a:fillRect/>
          </a:stretch>
        </p:blipFill>
        <p:spPr>
          <a:xfrm>
            <a:off x="566928" y="1672716"/>
            <a:ext cx="11027664" cy="2616456"/>
          </a:xfrm>
          <a:prstGeom prst="rect">
            <a:avLst/>
          </a:prstGeom>
        </p:spPr>
      </p:pic>
      <p:sp>
        <p:nvSpPr>
          <p:cNvPr id="5" name="Text 2"/>
          <p:cNvSpPr txBox="1"/>
          <p:nvPr/>
        </p:nvSpPr>
        <p:spPr>
          <a:xfrm>
            <a:off x="566928" y="4754880"/>
            <a:ext cx="11027664" cy="4572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The smoothed line stays in a narrow band across all 92 days. The daily dots swing widely, but those swings are sample size: some January days rest on fewer than two dozen buyers, so single-day movement carries no information.</a:t>
            </a:r>
            <a:endParaRPr lang="en-US" sz="1500" dirty="0"/>
          </a:p>
        </p:txBody>
      </p:sp>
      <p:sp>
        <p:nvSpPr>
          <p:cNvPr id="6" name="Text 3"/>
          <p:cNvSpPr txBox="1"/>
          <p:nvPr/>
        </p:nvSpPr>
        <p:spPr>
          <a:xfrm>
            <a:off x="566928" y="5715000"/>
            <a:ext cx="8229600" cy="274320"/>
          </a:xfrm>
          <a:prstGeom prst="rect">
            <a:avLst/>
          </a:prstGeom>
          <a:noFill/>
          <a:ln/>
        </p:spPr>
        <p:txBody>
          <a:bodyPr wrap="square" lIns="0" tIns="0" rIns="0" bIns="0" rtlCol="0" anchor="ctr"/>
          <a:lstStyle/>
          <a:p>
            <a:pPr indent="0" marL="0">
              <a:buNone/>
            </a:pPr>
            <a:r>
              <a:rPr lang="en-US" sz="1100" i="1" dirty="0">
                <a:solidFill>
                  <a:srgbClr val="6B7789"/>
                </a:solidFill>
                <a:latin typeface="Calibri" pitchFamily="34" charset="0"/>
                <a:ea typeface="Calibri" pitchFamily="34" charset="-122"/>
                <a:cs typeface="Calibri" pitchFamily="34" charset="-120"/>
              </a:rPr>
              <a:t>Daily median with 7-day trailing average, and the 25th percentile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20" kern="0" dirty="0">
                <a:solidFill>
                  <a:srgbClr val="1A73E8"/>
                </a:solidFill>
                <a:latin typeface="Calibri" pitchFamily="34" charset="0"/>
                <a:ea typeface="Calibri" pitchFamily="34" charset="-122"/>
                <a:cs typeface="Calibri" pitchFamily="34" charset="-120"/>
              </a:rPr>
              <a:t>THE CONTRAST</a:t>
            </a:r>
            <a:endParaRPr lang="en-US" sz="1100" dirty="0"/>
          </a:p>
        </p:txBody>
      </p:sp>
      <p:sp>
        <p:nvSpPr>
          <p:cNvPr id="3" name="Text 1"/>
          <p:cNvSpPr txBox="1"/>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8234B"/>
                </a:solidFill>
                <a:latin typeface="Cambria" pitchFamily="34" charset="0"/>
                <a:ea typeface="Cambria" pitchFamily="34" charset="-122"/>
                <a:cs typeface="Cambria" pitchFamily="34" charset="-120"/>
              </a:rPr>
              <a:t>Everything else moved. This did not.</a:t>
            </a:r>
            <a:endParaRPr lang="en-US" sz="3000" dirty="0"/>
          </a:p>
        </p:txBody>
      </p:sp>
      <p:pic>
        <p:nvPicPr>
          <p:cNvPr id="4" name="Image 0" descr="ch_conversion.png">    </p:cNvPr>
          <p:cNvPicPr>
            <a:picLocks noChangeAspect="1"/>
          </p:cNvPicPr>
          <p:nvPr/>
        </p:nvPicPr>
        <p:blipFill>
          <a:blip r:embed="rId1"/>
          <a:stretch>
            <a:fillRect/>
          </a:stretch>
        </p:blipFill>
        <p:spPr>
          <a:xfrm>
            <a:off x="566928" y="1554480"/>
            <a:ext cx="5308092" cy="2514152"/>
          </a:xfrm>
          <a:prstGeom prst="rect">
            <a:avLst/>
          </a:prstGeom>
        </p:spPr>
      </p:pic>
      <p:pic>
        <p:nvPicPr>
          <p:cNvPr id="5" name="Image 1" descr="ch_buyers_day.png">    </p:cNvPr>
          <p:cNvPicPr>
            <a:picLocks noChangeAspect="1"/>
          </p:cNvPicPr>
          <p:nvPr/>
        </p:nvPicPr>
        <p:blipFill>
          <a:blip r:embed="rId2"/>
          <a:stretch>
            <a:fillRect/>
          </a:stretch>
        </p:blipFill>
        <p:spPr>
          <a:xfrm>
            <a:off x="6321966" y="1554480"/>
            <a:ext cx="5237160" cy="2514152"/>
          </a:xfrm>
          <a:prstGeom prst="rect">
            <a:avLst/>
          </a:prstGeom>
        </p:spPr>
      </p:pic>
      <p:sp>
        <p:nvSpPr>
          <p:cNvPr id="6" name="Text 2"/>
          <p:cNvSpPr txBox="1"/>
          <p:nvPr/>
        </p:nvSpPr>
        <p:spPr>
          <a:xfrm>
            <a:off x="566928" y="4434840"/>
            <a:ext cx="11027664" cy="4572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Conversion peaked at 3.17% on 30 November, Black Friday week, then fell to a small fraction by mid-January. Daily buyer volume peaked near 150 in December and fell below 20 in January. Demand, traffic quality and conversion all moved substantially. The median time to purchase did not move with them.</a:t>
            </a:r>
            <a:endParaRPr lang="en-US" sz="1500" dirty="0"/>
          </a:p>
        </p:txBody>
      </p:sp>
      <p:sp>
        <p:nvSpPr>
          <p:cNvPr id="7" name="Text 3"/>
          <p:cNvSpPr txBox="1"/>
          <p:nvPr/>
        </p:nvSpPr>
        <p:spPr>
          <a:xfrm>
            <a:off x="566928" y="5532120"/>
            <a:ext cx="11027664" cy="548640"/>
          </a:xfrm>
          <a:prstGeom prst="rect">
            <a:avLst/>
          </a:prstGeom>
          <a:noFill/>
          <a:ln/>
        </p:spPr>
        <p:txBody>
          <a:bodyPr wrap="square" lIns="0" tIns="0" rIns="0" bIns="0" rtlCol="0" anchor="ctr"/>
          <a:lstStyle/>
          <a:p>
            <a:pPr indent="0" marL="0">
              <a:buNone/>
            </a:pPr>
            <a:r>
              <a:rPr lang="en-US" sz="1500" b="1" dirty="0">
                <a:solidFill>
                  <a:srgbClr val="18234B"/>
                </a:solidFill>
                <a:latin typeface="Calibri" pitchFamily="34" charset="0"/>
                <a:ea typeface="Calibri" pitchFamily="34" charset="-122"/>
                <a:cs typeface="Calibri" pitchFamily="34" charset="-120"/>
              </a:rPr>
              <a:t>So it is not an early-warning indicator. It did not respond to the largest demand swing in the data, and it will not signal a change in conversion before conversion does.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8234B"/>
        </a:solidFill>
      </p:bgPr>
    </p:bg>
    <p:spTree>
      <p:nvGrpSpPr>
        <p:cNvPr id="1" name=""/>
        <p:cNvGrpSpPr/>
        <p:nvPr/>
      </p:nvGrpSpPr>
      <p:grpSpPr>
        <a:xfrm>
          <a:off x="0" y="0"/>
          <a:ext cx="0" cy="0"/>
          <a:chOff x="0" y="0"/>
          <a:chExt cx="0" cy="0"/>
        </a:xfrm>
      </p:grpSpPr>
      <p:sp>
        <p:nvSpPr>
          <p:cNvPr id="2" name="Text 0"/>
          <p:cNvSpPr txBox="1"/>
          <p:nvPr/>
        </p:nvSpPr>
        <p:spPr>
          <a:xfrm>
            <a:off x="566928" y="2331720"/>
            <a:ext cx="10058400" cy="320040"/>
          </a:xfrm>
          <a:prstGeom prst="rect">
            <a:avLst/>
          </a:prstGeom>
          <a:noFill/>
          <a:ln/>
        </p:spPr>
        <p:txBody>
          <a:bodyPr wrap="square" lIns="0" tIns="0" rIns="0" bIns="0" rtlCol="0" anchor="ctr"/>
          <a:lstStyle/>
          <a:p>
            <a:pPr indent="0" marL="0">
              <a:buNone/>
            </a:pPr>
            <a:r>
              <a:rPr lang="en-US" sz="1300" b="1" spc="240" kern="0" dirty="0">
                <a:solidFill>
                  <a:srgbClr val="CADCFC"/>
                </a:solidFill>
                <a:latin typeface="Calibri" pitchFamily="34" charset="0"/>
                <a:ea typeface="Calibri" pitchFamily="34" charset="-122"/>
                <a:cs typeface="Calibri" pitchFamily="34" charset="-120"/>
              </a:rPr>
              <a:t>SO WHAT IS IT MEASURING?</a:t>
            </a:r>
            <a:endParaRPr lang="en-US" sz="1300" dirty="0"/>
          </a:p>
        </p:txBody>
      </p:sp>
      <p:sp>
        <p:nvSpPr>
          <p:cNvPr id="3" name="Text 1"/>
          <p:cNvSpPr txBox="1"/>
          <p:nvPr/>
        </p:nvSpPr>
        <p:spPr>
          <a:xfrm>
            <a:off x="566928" y="2788920"/>
            <a:ext cx="10424160" cy="173736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Slow orders are bigger orders,</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not pricier ones</a:t>
            </a:r>
            <a:endParaRPr lang="en-US" sz="4200" dirty="0"/>
          </a:p>
        </p:txBody>
      </p:sp>
      <p:sp>
        <p:nvSpPr>
          <p:cNvPr id="4" name="Text 2"/>
          <p:cNvSpPr txBox="1"/>
          <p:nvPr/>
        </p:nvSpPr>
        <p:spPr>
          <a:xfrm>
            <a:off x="566928" y="4526280"/>
            <a:ext cx="100584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Segmenting order value by speed band answers 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20" kern="0" dirty="0">
                <a:solidFill>
                  <a:srgbClr val="1A73E8"/>
                </a:solidFill>
                <a:latin typeface="Calibri" pitchFamily="34" charset="0"/>
                <a:ea typeface="Calibri" pitchFamily="34" charset="-122"/>
                <a:cs typeface="Calibri" pitchFamily="34" charset="-120"/>
              </a:rPr>
              <a:t>ORDER VALUE BY SPEED BAND</a:t>
            </a:r>
            <a:endParaRPr lang="en-US" sz="1100" dirty="0"/>
          </a:p>
        </p:txBody>
      </p:sp>
      <p:sp>
        <p:nvSpPr>
          <p:cNvPr id="3" name="Text 1"/>
          <p:cNvSpPr txBox="1"/>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8234B"/>
                </a:solidFill>
                <a:latin typeface="Cambria" pitchFamily="34" charset="0"/>
                <a:ea typeface="Cambria" pitchFamily="34" charset="-122"/>
                <a:cs typeface="Cambria" pitchFamily="34" charset="-120"/>
              </a:rPr>
              <a:t>Order value climbs from $49.77 to $95.60</a:t>
            </a:r>
            <a:endParaRPr lang="en-US" sz="3000" dirty="0"/>
          </a:p>
        </p:txBody>
      </p:sp>
      <p:pic>
        <p:nvPicPr>
          <p:cNvPr id="4" name="Image 0" descr="ch_aov.png">    </p:cNvPr>
          <p:cNvPicPr>
            <a:picLocks noChangeAspect="1"/>
          </p:cNvPicPr>
          <p:nvPr/>
        </p:nvPicPr>
        <p:blipFill>
          <a:blip r:embed="rId1"/>
          <a:stretch>
            <a:fillRect/>
          </a:stretch>
        </p:blipFill>
        <p:spPr>
          <a:xfrm>
            <a:off x="566928" y="1771433"/>
            <a:ext cx="11027664" cy="1888670"/>
          </a:xfrm>
          <a:prstGeom prst="rect">
            <a:avLst/>
          </a:prstGeom>
        </p:spPr>
      </p:pic>
      <p:pic>
        <p:nvPicPr>
          <p:cNvPr id="5" name="Image 1" descr="ch_kpi_p2.png">    </p:cNvPr>
          <p:cNvPicPr>
            <a:picLocks noChangeAspect="1"/>
          </p:cNvPicPr>
          <p:nvPr/>
        </p:nvPicPr>
        <p:blipFill>
          <a:blip r:embed="rId2"/>
          <a:stretch>
            <a:fillRect/>
          </a:stretch>
        </p:blipFill>
        <p:spPr>
          <a:xfrm>
            <a:off x="757989" y="4041648"/>
            <a:ext cx="10645541" cy="960120"/>
          </a:xfrm>
          <a:prstGeom prst="rect">
            <a:avLst/>
          </a:prstGeom>
        </p:spPr>
      </p:pic>
      <p:sp>
        <p:nvSpPr>
          <p:cNvPr id="6" name="Text 2"/>
          <p:cNvSpPr txBox="1"/>
          <p:nvPr/>
        </p:nvSpPr>
        <p:spPr>
          <a:xfrm>
            <a:off x="566928" y="5230368"/>
            <a:ext cx="11027664" cy="4572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A 1.9x spread, or $45.83 more per order, between the fastest band and the slowest.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20" kern="0" dirty="0">
                <a:solidFill>
                  <a:srgbClr val="1A73E8"/>
                </a:solidFill>
                <a:latin typeface="Calibri" pitchFamily="34" charset="0"/>
                <a:ea typeface="Calibri" pitchFamily="34" charset="-122"/>
                <a:cs typeface="Calibri" pitchFamily="34" charset="-120"/>
              </a:rPr>
              <a:t>WHY</a:t>
            </a:r>
            <a:endParaRPr lang="en-US" sz="1100" dirty="0"/>
          </a:p>
        </p:txBody>
      </p:sp>
      <p:sp>
        <p:nvSpPr>
          <p:cNvPr id="3" name="Text 1"/>
          <p:cNvSpPr txBox="1"/>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8234B"/>
                </a:solidFill>
                <a:latin typeface="Cambria" pitchFamily="34" charset="0"/>
                <a:ea typeface="Cambria" pitchFamily="34" charset="-122"/>
                <a:cs typeface="Cambria" pitchFamily="34" charset="-120"/>
              </a:rPr>
              <a:t>The entire gap is basket size</a:t>
            </a:r>
            <a:endParaRPr lang="en-US" sz="3000" dirty="0"/>
          </a:p>
        </p:txBody>
      </p:sp>
      <p:pic>
        <p:nvPicPr>
          <p:cNvPr id="4" name="Image 0" descr="ch_items.png">    </p:cNvPr>
          <p:cNvPicPr>
            <a:picLocks noChangeAspect="1"/>
          </p:cNvPicPr>
          <p:nvPr/>
        </p:nvPicPr>
        <p:blipFill>
          <a:blip r:embed="rId1"/>
          <a:stretch>
            <a:fillRect/>
          </a:stretch>
        </p:blipFill>
        <p:spPr>
          <a:xfrm>
            <a:off x="566928" y="1536192"/>
            <a:ext cx="5308092" cy="2195533"/>
          </a:xfrm>
          <a:prstGeom prst="rect">
            <a:avLst/>
          </a:prstGeom>
        </p:spPr>
      </p:pic>
      <p:pic>
        <p:nvPicPr>
          <p:cNvPr id="5" name="Image 1" descr="ch_unitprice.png">    </p:cNvPr>
          <p:cNvPicPr>
            <a:picLocks noChangeAspect="1"/>
          </p:cNvPicPr>
          <p:nvPr/>
        </p:nvPicPr>
        <p:blipFill>
          <a:blip r:embed="rId2"/>
          <a:stretch>
            <a:fillRect/>
          </a:stretch>
        </p:blipFill>
        <p:spPr>
          <a:xfrm>
            <a:off x="6562369" y="1536192"/>
            <a:ext cx="4756355" cy="2195533"/>
          </a:xfrm>
          <a:prstGeom prst="rect">
            <a:avLst/>
          </a:prstGeom>
        </p:spPr>
      </p:pic>
      <p:sp>
        <p:nvSpPr>
          <p:cNvPr id="6" name="Text 2"/>
          <p:cNvSpPr txBox="1"/>
          <p:nvPr/>
        </p:nvSpPr>
        <p:spPr>
          <a:xfrm>
            <a:off x="566928" y="3977640"/>
            <a:ext cx="11027664" cy="4572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Items per order nearly triples, from 2.26 to 6.38. Price per item stays flat at roughly $15 across four of the five bands. The two multiply back to the order values within a few cents, so slower buyers are not trading up to more expensive products. They are putting more of the same products in the basket.</a:t>
            </a:r>
            <a:endParaRPr lang="en-US" sz="1500" dirty="0"/>
          </a:p>
        </p:txBody>
      </p:sp>
      <p:sp>
        <p:nvSpPr>
          <p:cNvPr id="7" name="Text 3"/>
          <p:cNvSpPr txBox="1"/>
          <p:nvPr/>
        </p:nvSpPr>
        <p:spPr>
          <a:xfrm>
            <a:off x="566928" y="4937760"/>
            <a:ext cx="11027664" cy="457200"/>
          </a:xfrm>
          <a:prstGeom prst="rect">
            <a:avLst/>
          </a:prstGeom>
          <a:noFill/>
          <a:ln/>
        </p:spPr>
        <p:txBody>
          <a:bodyPr wrap="square" lIns="0" tIns="0" rIns="0" bIns="0" rtlCol="0" anchor="ctr"/>
          <a:lstStyle/>
          <a:p>
            <a:pPr indent="0" marL="0">
              <a:buNone/>
            </a:pPr>
            <a:r>
              <a:rPr lang="en-US" sz="1500" b="1" dirty="0">
                <a:solidFill>
                  <a:srgbClr val="18234B"/>
                </a:solidFill>
                <a:latin typeface="Calibri" pitchFamily="34" charset="0"/>
                <a:ea typeface="Calibri" pitchFamily="34" charset="-122"/>
                <a:cs typeface="Calibri" pitchFamily="34" charset="-120"/>
              </a:rPr>
              <a:t>The fastest band is a different behaviour, not a faster version of the same one: smallest basket, highest unit price at $22.04.</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20" kern="0" dirty="0">
                <a:solidFill>
                  <a:srgbClr val="1A73E8"/>
                </a:solidFill>
                <a:latin typeface="Calibri" pitchFamily="34" charset="0"/>
                <a:ea typeface="Calibri" pitchFamily="34" charset="-122"/>
                <a:cs typeface="Calibri" pitchFamily="34" charset="-120"/>
              </a:rPr>
              <a:t>INTERPRETATION</a:t>
            </a:r>
            <a:endParaRPr lang="en-US" sz="1100" dirty="0"/>
          </a:p>
        </p:txBody>
      </p:sp>
      <p:sp>
        <p:nvSpPr>
          <p:cNvPr id="3" name="Text 1"/>
          <p:cNvSpPr txBox="1"/>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8234B"/>
                </a:solidFill>
                <a:latin typeface="Cambria" pitchFamily="34" charset="0"/>
                <a:ea typeface="Cambria" pitchFamily="34" charset="-122"/>
                <a:cs typeface="Cambria" pitchFamily="34" charset="-120"/>
              </a:rPr>
              <a:t>Two readings, and this data cannot separate them</a:t>
            </a:r>
            <a:endParaRPr lang="en-US" sz="3000" dirty="0"/>
          </a:p>
        </p:txBody>
      </p:sp>
      <p:sp>
        <p:nvSpPr>
          <p:cNvPr id="4" name="Shape 2"/>
          <p:cNvSpPr/>
          <p:nvPr/>
        </p:nvSpPr>
        <p:spPr>
          <a:xfrm>
            <a:off x="566928" y="1645920"/>
            <a:ext cx="5308092" cy="2148840"/>
          </a:xfrm>
          <a:prstGeom prst="roundRect">
            <a:avLst>
              <a:gd name="adj" fmla="val 2553"/>
            </a:avLst>
          </a:prstGeom>
          <a:solidFill>
            <a:srgbClr val="FFFFFF"/>
          </a:solidFill>
          <a:ln w="12700">
            <a:solidFill>
              <a:srgbClr val="DDE3EA"/>
            </a:solidFill>
            <a:prstDash val="solid"/>
          </a:ln>
          <a:effectLst>
            <a:outerShdw sx="100000" sy="100000" kx="0" ky="0" algn="bl" rotWithShape="0" blurRad="152400" dist="38100" dir="5400000">
              <a:srgbClr val="1B2430">
                <a:alpha val="9000"/>
              </a:srgbClr>
            </a:outerShdw>
          </a:effectLst>
        </p:spPr>
      </p:sp>
      <p:sp>
        <p:nvSpPr>
          <p:cNvPr id="5" name="Shape 3"/>
          <p:cNvSpPr/>
          <p:nvPr/>
        </p:nvSpPr>
        <p:spPr>
          <a:xfrm>
            <a:off x="859536" y="1920240"/>
            <a:ext cx="457200" cy="457200"/>
          </a:xfrm>
          <a:prstGeom prst="ellipse">
            <a:avLst/>
          </a:prstGeom>
          <a:solidFill>
            <a:srgbClr val="18234B"/>
          </a:solidFill>
          <a:ln/>
        </p:spPr>
      </p:sp>
      <p:sp>
        <p:nvSpPr>
          <p:cNvPr id="6" name="Text 4"/>
          <p:cNvSpPr txBox="1"/>
          <p:nvPr/>
        </p:nvSpPr>
        <p:spPr>
          <a:xfrm>
            <a:off x="859536" y="1984248"/>
            <a:ext cx="457200"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a:t>
            </a:r>
            <a:endParaRPr lang="en-US" sz="1700" dirty="0"/>
          </a:p>
        </p:txBody>
      </p:sp>
      <p:sp>
        <p:nvSpPr>
          <p:cNvPr id="7" name="Text 5"/>
          <p:cNvSpPr txBox="1"/>
          <p:nvPr/>
        </p:nvSpPr>
        <p:spPr>
          <a:xfrm>
            <a:off x="1463040" y="1965960"/>
            <a:ext cx="4119372" cy="457200"/>
          </a:xfrm>
          <a:prstGeom prst="rect">
            <a:avLst/>
          </a:prstGeom>
          <a:noFill/>
          <a:ln/>
        </p:spPr>
        <p:txBody>
          <a:bodyPr wrap="square" lIns="0" tIns="0" rIns="0" bIns="0" rtlCol="0" anchor="ctr"/>
          <a:lstStyle/>
          <a:p>
            <a:pPr indent="0" marL="0">
              <a:buNone/>
            </a:pPr>
            <a:r>
              <a:rPr lang="en-US" sz="1600" b="1" dirty="0">
                <a:solidFill>
                  <a:srgbClr val="18234B"/>
                </a:solidFill>
                <a:latin typeface="Calibri" pitchFamily="34" charset="0"/>
                <a:ea typeface="Calibri" pitchFamily="34" charset="-122"/>
                <a:cs typeface="Calibri" pitchFamily="34" charset="-120"/>
              </a:rPr>
              <a:t>Duration signals intent</a:t>
            </a:r>
            <a:endParaRPr lang="en-US" sz="1600" dirty="0"/>
          </a:p>
        </p:txBody>
      </p:sp>
      <p:sp>
        <p:nvSpPr>
          <p:cNvPr id="8" name="Text 6"/>
          <p:cNvSpPr txBox="1"/>
          <p:nvPr/>
        </p:nvSpPr>
        <p:spPr>
          <a:xfrm>
            <a:off x="859536" y="2532888"/>
            <a:ext cx="4722876" cy="1234440"/>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Long sessions are people browsing a category and assembling a basket. The minutes are engagement, and compressing them would remove the browsing that fills the cart.</a:t>
            </a:r>
            <a:endParaRPr lang="en-US" sz="1350" dirty="0"/>
          </a:p>
        </p:txBody>
      </p:sp>
      <p:sp>
        <p:nvSpPr>
          <p:cNvPr id="9" name="Shape 7"/>
          <p:cNvSpPr/>
          <p:nvPr/>
        </p:nvSpPr>
        <p:spPr>
          <a:xfrm>
            <a:off x="6286500" y="1645920"/>
            <a:ext cx="5308092" cy="2148840"/>
          </a:xfrm>
          <a:prstGeom prst="roundRect">
            <a:avLst>
              <a:gd name="adj" fmla="val 2553"/>
            </a:avLst>
          </a:prstGeom>
          <a:solidFill>
            <a:srgbClr val="FFFFFF"/>
          </a:solidFill>
          <a:ln w="12700">
            <a:solidFill>
              <a:srgbClr val="DDE3EA"/>
            </a:solidFill>
            <a:prstDash val="solid"/>
          </a:ln>
          <a:effectLst>
            <a:outerShdw sx="100000" sy="100000" kx="0" ky="0" algn="bl" rotWithShape="0" blurRad="152400" dist="38100" dir="5400000">
              <a:srgbClr val="1B2430">
                <a:alpha val="9000"/>
              </a:srgbClr>
            </a:outerShdw>
          </a:effectLst>
        </p:spPr>
      </p:sp>
      <p:sp>
        <p:nvSpPr>
          <p:cNvPr id="10" name="Shape 8"/>
          <p:cNvSpPr/>
          <p:nvPr/>
        </p:nvSpPr>
        <p:spPr>
          <a:xfrm>
            <a:off x="6579108" y="1920240"/>
            <a:ext cx="457200" cy="457200"/>
          </a:xfrm>
          <a:prstGeom prst="ellipse">
            <a:avLst/>
          </a:prstGeom>
          <a:solidFill>
            <a:srgbClr val="18234B"/>
          </a:solidFill>
          <a:ln/>
        </p:spPr>
      </p:sp>
      <p:sp>
        <p:nvSpPr>
          <p:cNvPr id="11" name="Text 9"/>
          <p:cNvSpPr txBox="1"/>
          <p:nvPr/>
        </p:nvSpPr>
        <p:spPr>
          <a:xfrm>
            <a:off x="6579108" y="1984248"/>
            <a:ext cx="457200"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B</a:t>
            </a:r>
            <a:endParaRPr lang="en-US" sz="1700" dirty="0"/>
          </a:p>
        </p:txBody>
      </p:sp>
      <p:sp>
        <p:nvSpPr>
          <p:cNvPr id="12" name="Text 10"/>
          <p:cNvSpPr txBox="1"/>
          <p:nvPr/>
        </p:nvSpPr>
        <p:spPr>
          <a:xfrm>
            <a:off x="7182612" y="1965960"/>
            <a:ext cx="4119372" cy="457200"/>
          </a:xfrm>
          <a:prstGeom prst="rect">
            <a:avLst/>
          </a:prstGeom>
          <a:noFill/>
          <a:ln/>
        </p:spPr>
        <p:txBody>
          <a:bodyPr wrap="square" lIns="0" tIns="0" rIns="0" bIns="0" rtlCol="0" anchor="ctr"/>
          <a:lstStyle/>
          <a:p>
            <a:pPr indent="0" marL="0">
              <a:buNone/>
            </a:pPr>
            <a:r>
              <a:rPr lang="en-US" sz="1600" b="1" dirty="0">
                <a:solidFill>
                  <a:srgbClr val="18234B"/>
                </a:solidFill>
                <a:latin typeface="Calibri" pitchFamily="34" charset="0"/>
                <a:ea typeface="Calibri" pitchFamily="34" charset="-122"/>
                <a:cs typeface="Calibri" pitchFamily="34" charset="-120"/>
              </a:rPr>
              <a:t>Duration is a by-product of basket size</a:t>
            </a:r>
            <a:endParaRPr lang="en-US" sz="1600" dirty="0"/>
          </a:p>
        </p:txBody>
      </p:sp>
      <p:sp>
        <p:nvSpPr>
          <p:cNvPr id="13" name="Text 11"/>
          <p:cNvSpPr txBox="1"/>
          <p:nvPr/>
        </p:nvSpPr>
        <p:spPr>
          <a:xfrm>
            <a:off x="6579108" y="2532888"/>
            <a:ext cx="4722876" cy="1234440"/>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Six items mechanically take longer to add than two, at about $15 an item either way. Duration then carries nothing that basket size does not carry more directly.</a:t>
            </a:r>
            <a:endParaRPr lang="en-US" sz="1350" dirty="0"/>
          </a:p>
        </p:txBody>
      </p:sp>
      <p:sp>
        <p:nvSpPr>
          <p:cNvPr id="14" name="Text 12"/>
          <p:cNvSpPr txBox="1"/>
          <p:nvPr/>
        </p:nvSpPr>
        <p:spPr>
          <a:xfrm>
            <a:off x="566928" y="4069080"/>
            <a:ext cx="11027664" cy="822960"/>
          </a:xfrm>
          <a:prstGeom prst="rect">
            <a:avLst/>
          </a:prstGeom>
          <a:noFill/>
          <a:ln/>
        </p:spPr>
        <p:txBody>
          <a:bodyPr wrap="square" lIns="0" tIns="0" rIns="0" bIns="0" rtlCol="0" anchor="ctr"/>
          <a:lstStyle/>
          <a:p>
            <a:pPr indent="0" marL="0">
              <a:buNone/>
            </a:pPr>
            <a:r>
              <a:rPr lang="en-US" sz="1450" b="1" dirty="0">
                <a:solidFill>
                  <a:srgbClr val="1B2430"/>
                </a:solidFill>
                <a:latin typeface="Calibri" pitchFamily="34" charset="0"/>
                <a:ea typeface="Calibri" pitchFamily="34" charset="-122"/>
                <a:cs typeface="Calibri" pitchFamily="34" charset="-120"/>
              </a:rPr>
              <a:t>The test that would separate them: </a:t>
            </a:r>
            <a:pPr indent="0" marL="0">
              <a:buNone/>
            </a:pPr>
            <a:r>
              <a:rPr lang="en-US" sz="1450" dirty="0">
                <a:solidFill>
                  <a:srgbClr val="1B2430"/>
                </a:solidFill>
                <a:latin typeface="Calibri" pitchFamily="34" charset="0"/>
                <a:ea typeface="Calibri" pitchFamily="34" charset="-122"/>
                <a:cs typeface="Calibri" pitchFamily="34" charset="-120"/>
              </a:rPr>
              <a:t>hold items-per-order constant and re-examine. If a four-item order is still worth more at 60 minutes than at 5, something beyond mechanics is operating. If the relationship disappears, duration is a proxy and basket size is the real variable.</a:t>
            </a:r>
            <a:endParaRPr lang="en-US" sz="1450" dirty="0"/>
          </a:p>
        </p:txBody>
      </p:sp>
      <p:sp>
        <p:nvSpPr>
          <p:cNvPr id="15" name="Text 13"/>
          <p:cNvSpPr txBox="1"/>
          <p:nvPr/>
        </p:nvSpPr>
        <p:spPr>
          <a:xfrm>
            <a:off x="566928" y="5212080"/>
            <a:ext cx="11027664" cy="548640"/>
          </a:xfrm>
          <a:prstGeom prst="rect">
            <a:avLst/>
          </a:prstGeom>
          <a:noFill/>
          <a:ln/>
        </p:spPr>
        <p:txBody>
          <a:bodyPr wrap="square" lIns="0" tIns="0" rIns="0" bIns="0" rtlCol="0" anchor="ctr"/>
          <a:lstStyle/>
          <a:p>
            <a:pPr indent="0" marL="0">
              <a:buNone/>
            </a:pPr>
            <a:r>
              <a:rPr lang="en-US" sz="1600" b="1" dirty="0">
                <a:solidFill>
                  <a:srgbClr val="18234B"/>
                </a:solidFill>
                <a:latin typeface="Calibri" pitchFamily="34" charset="0"/>
                <a:ea typeface="Calibri" pitchFamily="34" charset="-122"/>
                <a:cs typeface="Calibri" pitchFamily="34" charset="-120"/>
              </a:rPr>
              <a:t>Both readings agree on one thing: this is not a number to drive down. Cutting time-to-purchase means shrinking baskets.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20" kern="0" dirty="0">
                <a:solidFill>
                  <a:srgbClr val="1A73E8"/>
                </a:solidFill>
                <a:latin typeface="Calibri" pitchFamily="34" charset="0"/>
                <a:ea typeface="Calibri" pitchFamily="34" charset="-122"/>
                <a:cs typeface="Calibri" pitchFamily="34" charset="-120"/>
              </a:rPr>
              <a:t>WHERE TO LOOK INSTEAD</a:t>
            </a:r>
            <a:endParaRPr lang="en-US" sz="1100" dirty="0"/>
          </a:p>
        </p:txBody>
      </p:sp>
      <p:sp>
        <p:nvSpPr>
          <p:cNvPr id="3" name="Text 1"/>
          <p:cNvSpPr txBox="1"/>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8234B"/>
                </a:solidFill>
                <a:latin typeface="Cambria" pitchFamily="34" charset="0"/>
                <a:ea typeface="Cambria" pitchFamily="34" charset="-122"/>
                <a:cs typeface="Cambria" pitchFamily="34" charset="-120"/>
              </a:rPr>
              <a:t>The losses are before the product page, and at checkout</a:t>
            </a:r>
            <a:endParaRPr lang="en-US" sz="3000" dirty="0"/>
          </a:p>
        </p:txBody>
      </p:sp>
      <p:pic>
        <p:nvPicPr>
          <p:cNvPr id="4" name="Image 0" descr="ch_funnel.png">    </p:cNvPr>
          <p:cNvPicPr>
            <a:picLocks noChangeAspect="1"/>
          </p:cNvPicPr>
          <p:nvPr/>
        </p:nvPicPr>
        <p:blipFill>
          <a:blip r:embed="rId1"/>
          <a:stretch>
            <a:fillRect/>
          </a:stretch>
        </p:blipFill>
        <p:spPr>
          <a:xfrm>
            <a:off x="629290" y="1572768"/>
            <a:ext cx="5183368" cy="1739490"/>
          </a:xfrm>
          <a:prstGeom prst="rect">
            <a:avLst/>
          </a:prstGeom>
        </p:spPr>
      </p:pic>
      <p:pic>
        <p:nvPicPr>
          <p:cNvPr id="5" name="Image 1" descr="ch_stagetime.png">    </p:cNvPr>
          <p:cNvPicPr>
            <a:picLocks noChangeAspect="1"/>
          </p:cNvPicPr>
          <p:nvPr/>
        </p:nvPicPr>
        <p:blipFill>
          <a:blip r:embed="rId2"/>
          <a:stretch>
            <a:fillRect/>
          </a:stretch>
        </p:blipFill>
        <p:spPr>
          <a:xfrm>
            <a:off x="6286500" y="1572768"/>
            <a:ext cx="5308092" cy="1739490"/>
          </a:xfrm>
          <a:prstGeom prst="rect">
            <a:avLst/>
          </a:prstGeom>
        </p:spPr>
      </p:pic>
      <p:sp>
        <p:nvSpPr>
          <p:cNvPr id="6" name="Text 2"/>
          <p:cNvSpPr txBox="1"/>
          <p:nvPr/>
        </p:nvSpPr>
        <p:spPr>
          <a:xfrm>
            <a:off x="566928" y="3611880"/>
            <a:ext cx="11027664" cy="4572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189,900 of 242,200 visitors leave without viewing a single product. In absolute terms that dwarfs every other step combined, and no checkout work touches it.</a:t>
            </a:r>
            <a:endParaRPr lang="en-US" sz="1500" dirty="0"/>
          </a:p>
        </p:txBody>
      </p:sp>
      <p:sp>
        <p:nvSpPr>
          <p:cNvPr id="7" name="Text 3"/>
          <p:cNvSpPr txBox="1"/>
          <p:nvPr/>
        </p:nvSpPr>
        <p:spPr>
          <a:xfrm>
            <a:off x="566928" y="4526280"/>
            <a:ext cx="11027664" cy="118872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Add-to-cart to checkout is the one stage worth instrumenting. </a:t>
            </a:r>
            <a:pPr indent="0" marL="0">
              <a:buNone/>
            </a:pPr>
            <a:r>
              <a:rPr lang="en-US" sz="1500" dirty="0">
                <a:solidFill>
                  <a:srgbClr val="1B2430"/>
                </a:solidFill>
                <a:latin typeface="Calibri" pitchFamily="34" charset="0"/>
                <a:ea typeface="Calibri" pitchFamily="34" charset="-122"/>
                <a:cs typeface="Calibri" pitchFamily="34" charset="-120"/>
              </a:rPr>
              <a:t>It consumes 46.6% of journey time and loses 48.6% of the users who reach it, the only stage where both are true. Everywhere else, reducing time risks removing the browsing that fills baskets. Here the basket is already assembled, so the time is far likelier to be hesitation or friction.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20" kern="0" dirty="0">
                <a:solidFill>
                  <a:srgbClr val="1A73E8"/>
                </a:solidFill>
                <a:latin typeface="Calibri" pitchFamily="34" charset="0"/>
                <a:ea typeface="Calibri" pitchFamily="34" charset="-122"/>
                <a:cs typeface="Calibri" pitchFamily="34" charset="-120"/>
              </a:rPr>
              <a:t>WHAT THIS CANNOT SEE</a:t>
            </a:r>
            <a:endParaRPr lang="en-US" sz="1100" dirty="0"/>
          </a:p>
        </p:txBody>
      </p:sp>
      <p:sp>
        <p:nvSpPr>
          <p:cNvPr id="3" name="Text 1"/>
          <p:cNvSpPr txBox="1"/>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8234B"/>
                </a:solidFill>
                <a:latin typeface="Cambria" pitchFamily="34" charset="0"/>
                <a:ea typeface="Cambria" pitchFamily="34" charset="-122"/>
                <a:cs typeface="Cambria" pitchFamily="34" charset="-120"/>
              </a:rPr>
              <a:t>A day is not a session</a:t>
            </a:r>
            <a:endParaRPr lang="en-US" sz="3000" dirty="0"/>
          </a:p>
        </p:txBody>
      </p:sp>
      <p:pic>
        <p:nvPicPr>
          <p:cNvPr id="4" name="Image 0" descr="ch_timeshare.png">    </p:cNvPr>
          <p:cNvPicPr>
            <a:picLocks noChangeAspect="1"/>
          </p:cNvPicPr>
          <p:nvPr/>
        </p:nvPicPr>
        <p:blipFill>
          <a:blip r:embed="rId1"/>
          <a:stretch>
            <a:fillRect/>
          </a:stretch>
        </p:blipFill>
        <p:spPr>
          <a:xfrm>
            <a:off x="5989320" y="2130342"/>
            <a:ext cx="5623560" cy="2542452"/>
          </a:xfrm>
          <a:prstGeom prst="rect">
            <a:avLst/>
          </a:prstGeom>
        </p:spPr>
      </p:pic>
      <p:sp>
        <p:nvSpPr>
          <p:cNvPr id="5" name="Text 2"/>
          <p:cNvSpPr txBox="1"/>
          <p:nvPr/>
        </p:nvSpPr>
        <p:spPr>
          <a:xfrm>
            <a:off x="566928" y="1645920"/>
            <a:ext cx="5120640" cy="2377440"/>
          </a:xfrm>
          <a:prstGeom prst="rect">
            <a:avLst/>
          </a:prstGeom>
          <a:noFill/>
          <a:ln/>
        </p:spPr>
        <p:txBody>
          <a:bodyPr wrap="square" lIns="0" tIns="0" rIns="0" bIns="0" rtlCol="0" anchor="ctr"/>
          <a:lstStyle/>
          <a:p>
            <a:pPr indent="0" marL="0">
              <a:spcAft>
                <a:spcPts val="800"/>
              </a:spcAft>
              <a:buNone/>
            </a:pPr>
            <a:r>
              <a:rPr lang="en-US" sz="1400" b="1" dirty="0">
                <a:solidFill>
                  <a:srgbClr val="1B2430"/>
                </a:solidFill>
                <a:latin typeface="Calibri" pitchFamily="34" charset="0"/>
                <a:ea typeface="Calibri" pitchFamily="34" charset="-122"/>
                <a:cs typeface="Calibri" pitchFamily="34" charset="-120"/>
              </a:rPr>
              <a:t>5.1% of buyers hold 49.1% of all elapsed time.</a:t>
            </a:r>
            <a:endParaRPr lang="en-US" sz="1400" dirty="0"/>
          </a:p>
          <a:p>
            <a:pPr indent="0" marL="0">
              <a:spcAft>
                <a:spcPts val="1200"/>
              </a:spcAft>
              <a:buNone/>
            </a:pPr>
            <a:r>
              <a:rPr lang="en-US" sz="1400" dirty="0">
                <a:solidFill>
                  <a:srgbClr val="1B2430"/>
                </a:solidFill>
                <a:latin typeface="Calibri" pitchFamily="34" charset="0"/>
                <a:ea typeface="Calibri" pitchFamily="34" charset="-122"/>
                <a:cs typeface="Calibri" pitchFamily="34" charset="-120"/>
              </a:rPr>
              <a:t>Measurement runs from the first event of the calendar day, so a user who visits at 09:00 and returns to buy at 17:00 records an eight-hour purchase. Those durations are largely gaps between visits, not shopping time, which is why the mean reads 74.7 against a median of 19.1.</a:t>
            </a:r>
            <a:endParaRPr lang="en-US" sz="1400" dirty="0"/>
          </a:p>
          <a:p>
            <a:pPr indent="0" marL="0">
              <a:buNone/>
            </a:pPr>
            <a:r>
              <a:rPr lang="en-US" sz="1400" b="1" dirty="0">
                <a:solidFill>
                  <a:srgbClr val="1B2430"/>
                </a:solidFill>
                <a:latin typeface="Calibri" pitchFamily="34" charset="0"/>
                <a:ea typeface="Calibri" pitchFamily="34" charset="-122"/>
                <a:cs typeface="Calibri" pitchFamily="34" charset="-120"/>
              </a:rPr>
              <a:t>The slow bands should not be read as high-consideration buyers.</a:t>
            </a:r>
            <a:endParaRPr lang="en-US" sz="1400" dirty="0"/>
          </a:p>
        </p:txBody>
      </p:sp>
      <p:sp>
        <p:nvSpPr>
          <p:cNvPr id="6" name="Text 3"/>
          <p:cNvSpPr txBox="1"/>
          <p:nvPr/>
        </p:nvSpPr>
        <p:spPr>
          <a:xfrm>
            <a:off x="566928" y="4480560"/>
            <a:ext cx="5120640" cy="1463040"/>
          </a:xfrm>
          <a:prstGeom prst="rect">
            <a:avLst/>
          </a:prstGeom>
          <a:noFill/>
          <a:ln/>
        </p:spPr>
        <p:txBody>
          <a:bodyPr wrap="square" lIns="0" tIns="0" rIns="0" bIns="0" rtlCol="0" anchor="ctr"/>
          <a:lstStyle/>
          <a:p>
            <a:pPr indent="0" marL="0">
              <a:buNone/>
            </a:pPr>
            <a:r>
              <a:rPr lang="en-US" sz="1300" b="1" dirty="0">
                <a:solidFill>
                  <a:srgbClr val="18234B"/>
                </a:solidFill>
                <a:latin typeface="Calibri" pitchFamily="34" charset="0"/>
                <a:ea typeface="Calibri" pitchFamily="34" charset="-122"/>
                <a:cs typeface="Calibri" pitchFamily="34" charset="-120"/>
              </a:rPr>
              <a:t>Also noted:  </a:t>
            </a:r>
            <a:pPr indent="0" marL="0">
              <a:buNone/>
            </a:pPr>
            <a:r>
              <a:rPr lang="en-US" sz="1300" dirty="0">
                <a:solidFill>
                  <a:srgbClr val="1B2430"/>
                </a:solidFill>
                <a:latin typeface="Calibri" pitchFamily="34" charset="0"/>
                <a:ea typeface="Calibri" pitchFamily="34" charset="-122"/>
                <a:cs typeface="Calibri" pitchFamily="34" charset="-120"/>
              </a:rPr>
              <a:t>same-day only by construction  ·  883 purchase events carry no transaction id, tested and unbiased across speed bands  ·  a holiday quarter  ·  no device or channel split  ·  add-to-cart untracked for 18 days in November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8234B"/>
        </a:solidFill>
      </p:bgPr>
    </p:bg>
    <p:spTree>
      <p:nvGrpSpPr>
        <p:cNvPr id="1" name=""/>
        <p:cNvGrpSpPr/>
        <p:nvPr/>
      </p:nvGrpSpPr>
      <p:grpSpPr>
        <a:xfrm>
          <a:off x="0" y="0"/>
          <a:ext cx="0" cy="0"/>
          <a:chOff x="0" y="0"/>
          <a:chExt cx="0" cy="0"/>
        </a:xfrm>
      </p:grpSpPr>
      <p:sp>
        <p:nvSpPr>
          <p:cNvPr id="2" name="Text 0"/>
          <p:cNvSpPr txBox="1"/>
          <p:nvPr/>
        </p:nvSpPr>
        <p:spPr>
          <a:xfrm>
            <a:off x="566928" y="566928"/>
            <a:ext cx="8229600" cy="292608"/>
          </a:xfrm>
          <a:prstGeom prst="rect">
            <a:avLst/>
          </a:prstGeom>
          <a:noFill/>
          <a:ln/>
        </p:spPr>
        <p:txBody>
          <a:bodyPr wrap="square" lIns="0" tIns="0" rIns="0" bIns="0" rtlCol="0" anchor="ctr"/>
          <a:lstStyle/>
          <a:p>
            <a:pPr indent="0" marL="0">
              <a:buNone/>
            </a:pPr>
            <a:r>
              <a:rPr lang="en-US" sz="1200" b="1" spc="240" kern="0" dirty="0">
                <a:solidFill>
                  <a:srgbClr val="CADCFC"/>
                </a:solidFill>
                <a:latin typeface="Calibri" pitchFamily="34" charset="0"/>
                <a:ea typeface="Calibri" pitchFamily="34" charset="-122"/>
                <a:cs typeface="Calibri" pitchFamily="34" charset="-120"/>
              </a:rPr>
              <a:t>RECOMMENDATIONS</a:t>
            </a:r>
            <a:endParaRPr lang="en-US" sz="1200" dirty="0"/>
          </a:p>
        </p:txBody>
      </p:sp>
      <p:sp>
        <p:nvSpPr>
          <p:cNvPr id="3" name="Text 1"/>
          <p:cNvSpPr txBox="1"/>
          <p:nvPr/>
        </p:nvSpPr>
        <p:spPr>
          <a:xfrm>
            <a:off x="566928" y="932688"/>
            <a:ext cx="100584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to do with this</a:t>
            </a:r>
            <a:endParaRPr lang="en-US" sz="3400" dirty="0"/>
          </a:p>
        </p:txBody>
      </p:sp>
      <p:sp>
        <p:nvSpPr>
          <p:cNvPr id="4" name="Shape 2"/>
          <p:cNvSpPr/>
          <p:nvPr/>
        </p:nvSpPr>
        <p:spPr>
          <a:xfrm>
            <a:off x="566928" y="1892808"/>
            <a:ext cx="384048" cy="384048"/>
          </a:xfrm>
          <a:prstGeom prst="ellipse">
            <a:avLst/>
          </a:prstGeom>
          <a:solidFill>
            <a:srgbClr val="1A73E8"/>
          </a:solidFill>
          <a:ln/>
        </p:spPr>
      </p:sp>
      <p:sp>
        <p:nvSpPr>
          <p:cNvPr id="5" name="Text 3"/>
          <p:cNvSpPr txBox="1"/>
          <p:nvPr/>
        </p:nvSpPr>
        <p:spPr>
          <a:xfrm>
            <a:off x="566928" y="1938528"/>
            <a:ext cx="38404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188720" y="1874520"/>
            <a:ext cx="1042416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Do not set a target on time to first purchase.</a:t>
            </a:r>
            <a:endParaRPr lang="en-US" sz="1600" dirty="0"/>
          </a:p>
        </p:txBody>
      </p:sp>
      <p:sp>
        <p:nvSpPr>
          <p:cNvPr id="7" name="Text 5"/>
          <p:cNvSpPr txBox="1"/>
          <p:nvPr/>
        </p:nvSpPr>
        <p:spPr>
          <a:xfrm>
            <a:off x="1188720" y="2185416"/>
            <a:ext cx="10424160" cy="292608"/>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Under either reading, driving it down means shrinking baskets. It belongs in segmentation, not on a KPI dashboard.</a:t>
            </a:r>
            <a:endParaRPr lang="en-US" sz="1300" dirty="0"/>
          </a:p>
        </p:txBody>
      </p:sp>
      <p:sp>
        <p:nvSpPr>
          <p:cNvPr id="8" name="Shape 6"/>
          <p:cNvSpPr/>
          <p:nvPr/>
        </p:nvSpPr>
        <p:spPr>
          <a:xfrm>
            <a:off x="566928" y="2734056"/>
            <a:ext cx="384048" cy="384048"/>
          </a:xfrm>
          <a:prstGeom prst="ellipse">
            <a:avLst/>
          </a:prstGeom>
          <a:solidFill>
            <a:srgbClr val="1A73E8"/>
          </a:solidFill>
          <a:ln/>
        </p:spPr>
      </p:sp>
      <p:sp>
        <p:nvSpPr>
          <p:cNvPr id="9" name="Text 7"/>
          <p:cNvSpPr txBox="1"/>
          <p:nvPr/>
        </p:nvSpPr>
        <p:spPr>
          <a:xfrm>
            <a:off x="566928" y="2779776"/>
            <a:ext cx="38404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1188720" y="2715768"/>
            <a:ext cx="1042416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Do not treat slow buyers as a problem to fix.</a:t>
            </a:r>
            <a:endParaRPr lang="en-US" sz="1600" dirty="0"/>
          </a:p>
        </p:txBody>
      </p:sp>
      <p:sp>
        <p:nvSpPr>
          <p:cNvPr id="11" name="Text 9"/>
          <p:cNvSpPr txBox="1"/>
          <p:nvPr/>
        </p:nvSpPr>
        <p:spPr>
          <a:xfrm>
            <a:off x="1188720" y="3026664"/>
            <a:ext cx="10424160" cy="292608"/>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They carry the largest baskets and the highest order values, $95.60 against $49.77.</a:t>
            </a:r>
            <a:endParaRPr lang="en-US" sz="1300" dirty="0"/>
          </a:p>
        </p:txBody>
      </p:sp>
      <p:sp>
        <p:nvSpPr>
          <p:cNvPr id="12" name="Shape 10"/>
          <p:cNvSpPr/>
          <p:nvPr/>
        </p:nvSpPr>
        <p:spPr>
          <a:xfrm>
            <a:off x="566928" y="3575304"/>
            <a:ext cx="384048" cy="384048"/>
          </a:xfrm>
          <a:prstGeom prst="ellipse">
            <a:avLst/>
          </a:prstGeom>
          <a:solidFill>
            <a:srgbClr val="1A73E8"/>
          </a:solidFill>
          <a:ln/>
        </p:spPr>
      </p:sp>
      <p:sp>
        <p:nvSpPr>
          <p:cNvPr id="13" name="Text 11"/>
          <p:cNvSpPr txBox="1"/>
          <p:nvPr/>
        </p:nvSpPr>
        <p:spPr>
          <a:xfrm>
            <a:off x="566928" y="3621024"/>
            <a:ext cx="38404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188720" y="3557016"/>
            <a:ext cx="1042416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Prioritise the cart to checkout stage.</a:t>
            </a:r>
            <a:endParaRPr lang="en-US" sz="1600" dirty="0"/>
          </a:p>
        </p:txBody>
      </p:sp>
      <p:sp>
        <p:nvSpPr>
          <p:cNvPr id="15" name="Text 13"/>
          <p:cNvSpPr txBox="1"/>
          <p:nvPr/>
        </p:nvSpPr>
        <p:spPr>
          <a:xfrm>
            <a:off x="1188720" y="3867912"/>
            <a:ext cx="10424160" cy="292608"/>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46.6% of journey time and 48.6% of the users who reach it. Instrument it before specifying a fix.</a:t>
            </a:r>
            <a:endParaRPr lang="en-US" sz="1300" dirty="0"/>
          </a:p>
        </p:txBody>
      </p:sp>
      <p:sp>
        <p:nvSpPr>
          <p:cNvPr id="16" name="Shape 14"/>
          <p:cNvSpPr/>
          <p:nvPr/>
        </p:nvSpPr>
        <p:spPr>
          <a:xfrm>
            <a:off x="566928" y="4416552"/>
            <a:ext cx="384048" cy="384048"/>
          </a:xfrm>
          <a:prstGeom prst="ellipse">
            <a:avLst/>
          </a:prstGeom>
          <a:solidFill>
            <a:srgbClr val="1A73E8"/>
          </a:solidFill>
          <a:ln/>
        </p:spPr>
      </p:sp>
      <p:sp>
        <p:nvSpPr>
          <p:cNvPr id="17" name="Text 15"/>
          <p:cNvSpPr txBox="1"/>
          <p:nvPr/>
        </p:nvSpPr>
        <p:spPr>
          <a:xfrm>
            <a:off x="566928" y="4462272"/>
            <a:ext cx="38404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188720" y="4398264"/>
            <a:ext cx="1042416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Treat the pre-product-page loss as a separate, larger workstream.</a:t>
            </a:r>
            <a:endParaRPr lang="en-US" sz="1600" dirty="0"/>
          </a:p>
        </p:txBody>
      </p:sp>
      <p:sp>
        <p:nvSpPr>
          <p:cNvPr id="19" name="Text 17"/>
          <p:cNvSpPr txBox="1"/>
          <p:nvPr/>
        </p:nvSpPr>
        <p:spPr>
          <a:xfrm>
            <a:off x="1188720" y="4709160"/>
            <a:ext cx="10424160" cy="292608"/>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189,900 visitors, and no checkout work touches it.</a:t>
            </a:r>
            <a:endParaRPr lang="en-US" sz="1300" dirty="0"/>
          </a:p>
        </p:txBody>
      </p:sp>
      <p:sp>
        <p:nvSpPr>
          <p:cNvPr id="20" name="Shape 18"/>
          <p:cNvSpPr/>
          <p:nvPr/>
        </p:nvSpPr>
        <p:spPr>
          <a:xfrm>
            <a:off x="566928" y="5257800"/>
            <a:ext cx="384048" cy="384048"/>
          </a:xfrm>
          <a:prstGeom prst="ellipse">
            <a:avLst/>
          </a:prstGeom>
          <a:solidFill>
            <a:srgbClr val="1A73E8"/>
          </a:solidFill>
          <a:ln/>
        </p:spPr>
      </p:sp>
      <p:sp>
        <p:nvSpPr>
          <p:cNvPr id="21" name="Text 19"/>
          <p:cNvSpPr txBox="1"/>
          <p:nvPr/>
        </p:nvSpPr>
        <p:spPr>
          <a:xfrm>
            <a:off x="566928" y="5303520"/>
            <a:ext cx="38404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2" name="Text 20"/>
          <p:cNvSpPr txBox="1"/>
          <p:nvPr/>
        </p:nvSpPr>
        <p:spPr>
          <a:xfrm>
            <a:off x="1188720" y="5239512"/>
            <a:ext cx="1042416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Use time to first add-to-cart if a friction metric is wanted.</a:t>
            </a:r>
            <a:endParaRPr lang="en-US" sz="1600" dirty="0"/>
          </a:p>
        </p:txBody>
      </p:sp>
      <p:sp>
        <p:nvSpPr>
          <p:cNvPr id="23" name="Text 21"/>
          <p:cNvSpPr txBox="1"/>
          <p:nvPr/>
        </p:nvSpPr>
        <p:spPr>
          <a:xfrm>
            <a:off x="1188720" y="5550408"/>
            <a:ext cx="10424160" cy="292608"/>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It ends before basket assembly begins, so it can legitimately be optimised downward.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2026-09-04T07:02:05Z</dcterms:created>
  <dcterms:modified xsi:type="dcterms:W3CDTF">2026-09-04T07:02:05Z</dcterms:modified>
</cp:coreProperties>
</file>